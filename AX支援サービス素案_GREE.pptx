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2A4A"/>
                </a:solidFill>
                <a:latin typeface="Yu Gothic"/>
              </a:rPr>
              <a:t>BtoB AX支援サービス（素案）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467646"/>
                </a:solidFill>
                <a:latin typeface="Yu Gothic"/>
              </a:rPr>
              <a:t>SNS運用 × AI × 人 × SocialPitt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3C5478"/>
                </a:solidFill>
                <a:latin typeface="Yu Gothic"/>
              </a:rPr>
              <a:t>「続ける」だけでなく「伸ばす」。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3C5478"/>
                </a:solidFill>
                <a:latin typeface="Yu Gothic"/>
              </a:rPr>
              <a:t>フォロワー・エンゲージメント拡大まで、代理店が伴走する。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5120640"/>
            <a:ext cx="3200400" cy="548640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5138928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Yu Gothic"/>
              </a:rPr>
              <a:t>GREE ／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よくある悩み：投稿は続いた。でも“伸びない”。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94960" cy="310896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606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94960" cy="566928"/>
          </a:xfrm>
          <a:prstGeom prst="roundRect">
            <a:avLst/>
          </a:prstGeom>
          <a:solidFill>
            <a:srgbClr val="60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08176"/>
            <a:ext cx="5394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AIだけだと…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67646"/>
                </a:solidFill>
                <a:latin typeface="Yu Gothic"/>
              </a:rPr>
              <a:t>効率（量・継続・一貫性）… ○ 出る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E48E3C"/>
                </a:solidFill>
                <a:latin typeface="Yu Gothic"/>
              </a:rPr>
              <a:t>成果（フォロワー・ENG）… △ 不透明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62A4A"/>
                </a:solidFill>
                <a:latin typeface="Yu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3C5478"/>
                </a:solidFill>
                <a:latin typeface="Yu Gothic"/>
              </a:rPr>
              <a:t>量産はできても、“伸ばす”仕掛けが足りない。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310896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E4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94960" cy="566928"/>
          </a:xfrm>
          <a:prstGeom prst="roundRect">
            <a:avLst/>
          </a:prstGeom>
          <a:solidFill>
            <a:srgbClr val="E4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08176"/>
            <a:ext cx="53949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現場のペイン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2A4A"/>
                </a:solidFill>
                <a:latin typeface="Yu Gothic"/>
              </a:rPr>
              <a:t>・ネタ切れ・制作工数で続かない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62A4A"/>
                </a:solidFill>
                <a:latin typeface="Yu Gothic"/>
              </a:rPr>
              <a:t>・トンマナ・品質がぶれる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62A4A"/>
                </a:solidFill>
                <a:latin typeface="Yu Gothic"/>
              </a:rPr>
              <a:t>・何を出せばいいか戦略がない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62A4A"/>
                </a:solidFill>
                <a:latin typeface="Yu Gothic"/>
              </a:rPr>
              <a:t>・効果が見えない／改善できない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E48E3C"/>
                </a:solidFill>
                <a:latin typeface="Yu Gothic"/>
              </a:rPr>
              <a:t>「効率」と「成果」は別物。成果には“もう2つの力”が要る。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解決：3つの力を組み合わせる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20440" cy="237744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0817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AI（仕組み）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5C905A"/>
                </a:solidFill>
                <a:latin typeface="Yu Gothic"/>
              </a:rPr>
              <a:t>続ける／そろえる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2A4A"/>
                </a:solidFill>
                <a:latin typeface="Yu Gothic"/>
              </a:rPr>
              <a:t>半自動で量産・キャラ統一・予約投稿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520440" cy="237744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E4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520440" cy="566928"/>
          </a:xfrm>
          <a:prstGeom prst="roundRect">
            <a:avLst/>
          </a:prstGeom>
          <a:solidFill>
            <a:srgbClr val="E4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0817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人（GREE）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4884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E48E3C"/>
                </a:solidFill>
                <a:latin typeface="Yu Gothic"/>
              </a:rPr>
              <a:t>当てる／磨く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889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2A4A"/>
                </a:solidFill>
                <a:latin typeface="Yu Gothic"/>
              </a:rPr>
              <a:t>戦略・編集・コメント運用・改善判断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520440" cy="237744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467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520440" cy="566928"/>
          </a:xfrm>
          <a:prstGeom prst="roundRect">
            <a:avLst/>
          </a:prstGeom>
          <a:solidFill>
            <a:srgbClr val="46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0817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SocialPitt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4884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467646"/>
                </a:solidFill>
                <a:latin typeface="Yu Gothic"/>
              </a:rPr>
              <a:t>測る／回す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7889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2A4A"/>
                </a:solidFill>
                <a:latin typeface="Yu Gothic"/>
              </a:rPr>
              <a:t>KPI可視化・競合ベンチ・勝ち筋抽出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62A4A"/>
                </a:solidFill>
                <a:latin typeface="Yu Gothic"/>
              </a:rPr>
              <a:t>データ(SocialPitt) → 人が“次の企画”に翻訳 → AIが量産 → 投稿・計測（PDCA）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467646"/>
                </a:solidFill>
                <a:latin typeface="Yu Gothic"/>
              </a:rPr>
              <a:t>このループが回るほど伸びる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なぜ“伸びる”のか（フォロワーの増え方）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1188720"/>
          </a:xfrm>
          <a:prstGeom prst="roundRect">
            <a:avLst/>
          </a:prstGeom>
          <a:solidFill>
            <a:srgbClr val="F5F8F0"/>
          </a:solidFill>
          <a:ln w="2540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A4A"/>
                </a:solidFill>
                <a:latin typeface="Yu Gothic"/>
              </a:rPr>
              <a:t>フォロワー純増 ＝ リーチ × プロフィール訪問率 × フォロー転換率 −（離脱）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3C5478"/>
                </a:solidFill>
                <a:latin typeface="Yu Gothic"/>
              </a:rPr>
              <a:t>ENG率 ＝ （保存＋いいね＋コメント＋シェア）÷ リーチ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743200"/>
          <a:ext cx="112471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6300"/>
                <a:gridCol w="1874520"/>
                <a:gridCol w="46863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伸ばす要素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担い手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</a:rPr>
                        <a:t>具体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A4A"/>
                          </a:solidFill>
                          <a:latin typeface="Yu Gothic"/>
                        </a:rPr>
                        <a:t>露出量（量・継続・一貫性）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AI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半自動で量産・毎日投稿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A4A"/>
                          </a:solidFill>
                          <a:latin typeface="Yu Gothic"/>
                        </a:rPr>
                        <a:t>当たり化（実用性・フック・トンマナ）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人(GREE)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企画・編集・見せ方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A4A"/>
                          </a:solidFill>
                          <a:latin typeface="Yu Gothic"/>
                        </a:rPr>
                        <a:t>最適化（時間/タグ/競合比較）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SocialPitt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データで勝ち筋を発見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2A4A"/>
                          </a:solidFill>
                          <a:latin typeface="Yu Gothic"/>
                        </a:rPr>
                        <a:t>関係づくり（コメント返信）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人(GREE)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62A4A"/>
                          </a:solidFill>
                          <a:latin typeface="Yu Gothic"/>
                        </a:rPr>
                        <a:t>ファン化→評価UP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回し方（毎週まわすPDCA）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103120" cy="118872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A4A"/>
                </a:solidFill>
                <a:latin typeface="Yu Gothic"/>
              </a:rPr>
              <a:t>①分析 (SocialPitt)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554480"/>
            <a:ext cx="2103120" cy="118872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55448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A4A"/>
                </a:solidFill>
                <a:latin typeface="Yu Gothic"/>
              </a:rPr>
              <a:t>②企画 (人)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2103120" cy="118872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55448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A4A"/>
                </a:solidFill>
                <a:latin typeface="Yu Gothic"/>
              </a:rPr>
              <a:t>③量産 (AI)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19" y="1554480"/>
            <a:ext cx="2103120" cy="118872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E4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55448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48E3C"/>
                </a:solidFill>
                <a:latin typeface="Yu Gothic"/>
              </a:rPr>
              <a:t>④承認 (顧客)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554480"/>
            <a:ext cx="2103120" cy="118872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554480"/>
            <a:ext cx="21031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A4A"/>
                </a:solidFill>
                <a:latin typeface="Yu Gothic"/>
              </a:rPr>
              <a:t>⑤投稿→運用(人)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5478"/>
                </a:solidFill>
                <a:latin typeface="Yu Gothic"/>
              </a:rPr>
              <a:t>週次：勝ち筋を翌週の企画へ反映　／　月次：戦略・テーマ配分・広告ブーストを見直し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931920"/>
            <a:ext cx="5760720" cy="822960"/>
          </a:xfrm>
          <a:prstGeom prst="roundRect">
            <a:avLst/>
          </a:prstGeom>
          <a:solidFill>
            <a:srgbClr val="F5F8F0"/>
          </a:solidFill>
          <a:ln w="25400">
            <a:solidFill>
              <a:srgbClr val="E4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931920"/>
            <a:ext cx="5760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48E3C"/>
                </a:solidFill>
                <a:latin typeface="Yu Gothic"/>
              </a:rPr>
              <a:t>④承認（顧客）＝“勝手に出さない”安全装置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安心して任せられる仕組み（権限・セキュリティ）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/>
                <a:gridCol w="843534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観点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どうする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アカウント所有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クライアントが保有（代理店に譲渡しない）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代理店の権限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Metaパートナー連携で“最小権限”のみ付与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代行投稿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可。ただし最終OK（承認）は必ず顧客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トークン/秘密情報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顧客資産として管理・平文コミット禁止・漏洩時は即再発行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記録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誰が承認・投稿したかの監査ログを保持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AIに入れない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顧客の機密・個人情報は投入しない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2A4A"/>
                          </a:solidFill>
                          <a:latin typeface="Yu Gothic"/>
                        </a:rPr>
                        <a:t>ブランドセーフティ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2A4A"/>
                          </a:solidFill>
                          <a:latin typeface="Yu Gothic"/>
                        </a:rPr>
                        <a:t>炎上回避チェック（誇大・不安訴求・権利侵害を排除）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669280"/>
            <a:ext cx="6400800" cy="502920"/>
          </a:xfrm>
          <a:prstGeom prst="roundRect">
            <a:avLst/>
          </a:prstGeom>
          <a:solidFill>
            <a:srgbClr val="E4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Yu Gothic"/>
              </a:rPr>
              <a:t>キモ：代行はするが“最終OKは顧客”＋データは守る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料金プラン（4段階・成果志向）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76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562"/>
                <a:gridCol w="1065401"/>
                <a:gridCol w="1811183"/>
                <a:gridCol w="1704642"/>
                <a:gridCol w="1811183"/>
                <a:gridCol w="1704642"/>
                <a:gridCol w="2024263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プラン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狙い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AI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人(GREE)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SocialPitt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投稿/レポート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KPI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2A4A"/>
                          </a:solidFill>
                          <a:latin typeface="Yu Gothic"/>
                        </a:rPr>
                        <a:t>① Starter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立ち上げ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設計・テンプレ・初期投稿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戦略設計・初期伴走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KPI設計＋ダッシュボード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月8〜12／月次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基盤・初期母数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2A4A"/>
                          </a:solidFill>
                          <a:latin typeface="Yu Gothic"/>
                        </a:rPr>
                        <a:t>② Standard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続けて磨く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半自動量産・予約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編集監修・週次改善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週次分析・ベンチ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月12〜20／隔週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ENG率改善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48E3C"/>
                          </a:solidFill>
                          <a:latin typeface="Yu Gothic"/>
                        </a:rPr>
                        <a:t>③ Growth ★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伸ばす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量産＋A/B＋リール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プランナー＋アナリスト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高度分析・競合/タグ最適化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月20〜30＋リール／週次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フォロワー純増・ENGに数値コミット</a:t>
                      </a:r>
                    </a:p>
                  </a:txBody>
                  <a:tcPr marL="73152" marR="54864" marT="36576" marB="36576" anchor="ctr">
                    <a:solidFill>
                      <a:srgbClr val="FFF4E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2A4A"/>
                          </a:solidFill>
                          <a:latin typeface="Yu Gothic"/>
                        </a:rPr>
                        <a:t>④ Enablement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内製化/研修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仕組み移管・プロンプト資産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研修・伴走・レビュー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自社運用へ移管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顧客運用／月次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62A4A"/>
                          </a:solidFill>
                          <a:latin typeface="Yu Gothic"/>
                        </a:rPr>
                        <a:t>内製能力の獲得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669280"/>
            <a:ext cx="1161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48E3C"/>
                </a:solidFill>
                <a:latin typeface="Yu Gothic"/>
              </a:rPr>
              <a:t>成果（フォロワー/ENG）が要件なら → 人＋SocialPittの比重が高い ③Growth が必須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提供の座組（A／B／C）— AI活用の観点で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79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1977"/>
                <a:gridCol w="3133634"/>
                <a:gridCol w="3133634"/>
                <a:gridCol w="3133634"/>
              </a:tblGrid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観点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A：フル外注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B：部分外注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C：AI内製化コンサル</a:t>
                      </a:r>
                    </a:p>
                  </a:txBody>
                  <a:tcPr marL="73152" marR="54864" marT="36576" marB="36576" anchor="ctr">
                    <a:solidFill>
                      <a:srgbClr val="5C905A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クライアントの役割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承認＋レポート受領＋継続判断のみ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自社制作・投稿は内製／一部を選択外注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運用は自社（仕組みを受け取る）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GREEの役割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企画〜制作〜投稿〜分析〜改善まで全部代行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選択領域(キャンペーン/UGC/SocialPitt)を支援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Claude活用の内製化を設計・実装・研修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AI活用（誰が使う）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GREEがAIで量産・効率化（顧客はAIレス）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役割分担：外注=GREEのAI／内製=顧客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顧客自身がAIで作れるように（民主化）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SocialPitt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GREEが運用しレポート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分析だけ単体外注も可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自社ダッシュボードとして導入支援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人(GREE)の関与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高（フル運用）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中（選択領域のみ）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初期=高 → 移管後=低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向く顧客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リソース無い／丸ごと任せたい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内製体制あり／繁忙・専門領域を補完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内製化・恒久コスト削減・ノウハウ蓄積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課金イメージ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月額運用（高）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メニュー/PJ＋SocialPitt月額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コンサル/実装PJ＋研修</a:t>
                      </a:r>
                    </a:p>
                  </a:txBody>
                  <a:tcPr marL="73152" marR="54864" marT="36576" marB="36576" anchor="ctr">
                    <a:solidFill>
                      <a:srgbClr val="FCFDF9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62A4A"/>
                          </a:solidFill>
                          <a:latin typeface="Yu Gothic"/>
                        </a:rPr>
                        <a:t>対応パッケージ／現状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②〜③ / 提供中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①②＋オプション / 提供中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2A4A"/>
                          </a:solidFill>
                          <a:latin typeface="Yu Gothic"/>
                        </a:rPr>
                        <a:t>④Enablement / 新規</a:t>
                      </a:r>
                    </a:p>
                  </a:txBody>
                  <a:tcPr marL="73152" marR="54864" marT="36576" marB="36576" anchor="ctr">
                    <a:solidFill>
                      <a:srgbClr val="F5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AI活用の3類型（座組の本質＝“誰がAIを操るか”）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520440" cy="310896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520440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6245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代行型（A）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C905A"/>
                </a:solidFill>
                <a:latin typeface="Yu Gothic"/>
              </a:rPr>
              <a:t>GREEがAIで“代わりに”回す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06E64"/>
                </a:solidFill>
                <a:latin typeface="Yu Gothic"/>
              </a:rPr>
              <a:t>提供価値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62A4A"/>
                </a:solidFill>
                <a:latin typeface="Yu Gothic"/>
              </a:rPr>
              <a:t>手離れ・継続・成果重視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162A4A"/>
                </a:solidFill>
                <a:latin typeface="Yu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606E64"/>
                </a:solidFill>
                <a:latin typeface="Yu Gothic"/>
              </a:rPr>
              <a:t>対応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5C905A"/>
                </a:solidFill>
                <a:latin typeface="Yu Gothic"/>
              </a:rPr>
              <a:t>②③ / フル外注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520440" cy="310896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E4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520440" cy="566928"/>
          </a:xfrm>
          <a:prstGeom prst="roundRect">
            <a:avLst/>
          </a:prstGeom>
          <a:solidFill>
            <a:srgbClr val="E4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6245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ハイブリッド型（B）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0312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48E3C"/>
                </a:solidFill>
                <a:latin typeface="Yu Gothic"/>
              </a:rPr>
              <a:t>AIの使い手を分担する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06E64"/>
                </a:solidFill>
                <a:latin typeface="Yu Gothic"/>
              </a:rPr>
              <a:t>提供価値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62A4A"/>
                </a:solidFill>
                <a:latin typeface="Yu Gothic"/>
              </a:rPr>
              <a:t>柔軟・コスト最適・補完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162A4A"/>
                </a:solidFill>
                <a:latin typeface="Yu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606E64"/>
                </a:solidFill>
                <a:latin typeface="Yu Gothic"/>
              </a:rPr>
              <a:t>対応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48E3C"/>
                </a:solidFill>
                <a:latin typeface="Yu Gothic"/>
              </a:rPr>
              <a:t>① 部分＋SocialPitt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520440" cy="310896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467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520440" cy="566928"/>
          </a:xfrm>
          <a:prstGeom prst="roundRect">
            <a:avLst/>
          </a:prstGeom>
          <a:solidFill>
            <a:srgbClr val="467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36245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内製化型（C）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467646"/>
                </a:solidFill>
                <a:latin typeface="Yu Gothic"/>
              </a:rPr>
              <a:t>顧客がAIを使えるように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3464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06E64"/>
                </a:solidFill>
                <a:latin typeface="Yu Gothic"/>
              </a:rPr>
              <a:t>提供価値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62A4A"/>
                </a:solidFill>
                <a:latin typeface="Yu Gothic"/>
              </a:rPr>
              <a:t>自走・恒久効率・ノウハウ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162A4A"/>
                </a:solidFill>
                <a:latin typeface="Yu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606E64"/>
                </a:solidFill>
                <a:latin typeface="Yu Gothic"/>
              </a:rPr>
              <a:t>対応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67646"/>
                </a:solidFill>
                <a:latin typeface="Yu Gothic"/>
              </a:rPr>
              <a:t>④ Enablement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1247120" cy="914400"/>
          </a:xfrm>
          <a:prstGeom prst="roundRect">
            <a:avLst/>
          </a:prstGeom>
          <a:solidFill>
            <a:srgbClr val="F5F8F0"/>
          </a:solidFill>
          <a:ln w="25400">
            <a:solidFill>
              <a:srgbClr val="467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467646"/>
                </a:solidFill>
                <a:latin typeface="Yu Gothic"/>
              </a:rPr>
              <a:t>どれもAIが“てこ”。違いは「誰がAIを操るか」だけ。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C5478"/>
                </a:solidFill>
                <a:latin typeface="Yu Gothic"/>
              </a:rPr>
              <a:t>顧客の体制・目的に合わせて A/B/C を選ぶ（組み合わせも可）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28016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A4A"/>
                </a:solidFill>
                <a:latin typeface="Yu Gothic"/>
              </a:rPr>
              <a:t>はじめ方（3ステップ）とまとめ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10896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06E64"/>
                </a:solidFill>
                <a:latin typeface="Yu Gothic"/>
              </a:rP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18288"/>
          </a:xfrm>
          <a:prstGeom prst="roundRect">
            <a:avLst/>
          </a:prstGeom>
          <a:solidFill>
            <a:srgbClr val="96B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06E64"/>
                </a:solidFill>
                <a:latin typeface="Yu Gothic"/>
              </a:rPr>
              <a:t>GREE｜AX支援サービス 素案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20440" cy="228600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0817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2A4A"/>
                </a:solidFill>
                <a:latin typeface="Yu Gothic"/>
              </a:rPr>
              <a:t>自社で実証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C5478"/>
                </a:solidFill>
                <a:latin typeface="Yu Gothic"/>
              </a:rPr>
              <a:t>ai_coach_korekara を実績化（100フォロワー＆運用データ）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520440" cy="228600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520440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0817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4884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2A4A"/>
                </a:solidFill>
                <a:latin typeface="Yu Gothic"/>
              </a:rPr>
              <a:t>パイロット1社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C5478"/>
                </a:solidFill>
                <a:latin typeface="Yu Gothic"/>
              </a:rPr>
              <a:t>Growthで試行→フロー・権限・セキュリティを実地検証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520440" cy="2286000"/>
          </a:xfrm>
          <a:prstGeom prst="roundRect">
            <a:avLst/>
          </a:prstGeom>
          <a:solidFill>
            <a:srgbClr val="FCFDF9"/>
          </a:solidFill>
          <a:ln w="27940">
            <a:solidFill>
              <a:srgbClr val="5C9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520440" cy="566928"/>
          </a:xfrm>
          <a:prstGeom prst="roundRect">
            <a:avLst/>
          </a:prstGeom>
          <a:solidFill>
            <a:srgbClr val="5C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408176"/>
            <a:ext cx="3520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Yu Gothic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4884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2A4A"/>
                </a:solidFill>
                <a:latin typeface="Yu Gothic"/>
              </a:rPr>
              <a:t>横展開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74320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C5478"/>
                </a:solidFill>
                <a:latin typeface="Yu Gothic"/>
              </a:rPr>
              <a:t>標準パッケージ化→最後に提案資料を作成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1188720"/>
          </a:xfrm>
          <a:prstGeom prst="roundRect">
            <a:avLst/>
          </a:prstGeom>
          <a:solidFill>
            <a:srgbClr val="F5F8F0"/>
          </a:solidFill>
          <a:ln w="25400">
            <a:solidFill>
              <a:srgbClr val="467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467646"/>
                </a:solidFill>
                <a:latin typeface="Yu Gothic"/>
              </a:rPr>
              <a:t>AIで速く。人で外さない。データで伸ばす。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3C5478"/>
                </a:solidFill>
                <a:latin typeface="Yu Gothic"/>
              </a:rPr>
              <a:t>“続ける”を超えて、“伸びる”をBtoBへ。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